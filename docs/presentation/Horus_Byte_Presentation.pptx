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CVSS Score</c:v>
                </c:pt>
              </c:strCache>
            </c:strRef>
          </c:tx>
          <c:spPr>
            <a:solidFill>
              <a:srgbClr val="FFA5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0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A5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7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D7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SQL Injection</c:v>
                  </c:pt>
                  <c:pt idx="1">
                    <c:v>Stored XSS</c:v>
                  </c:pt>
                  <c:pt idx="2">
                    <c:v>Broken Access
Control</c:v>
                  </c:pt>
                  <c:pt idx="3">
                    <c:v>Missing Rate
Limiting</c:v>
                  </c:pt>
                  <c:pt idx="4">
                    <c:v>Missing SameSite
Cookie</c:v>
                  </c:pt>
                  <c:pt idx="5">
                    <c:v>X-Powered-By
Disclosure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9.1</c:v>
                </c:pt>
                <c:pt idx="1">
                  <c:v>8.2</c:v>
                </c:pt>
                <c:pt idx="2">
                  <c:v>7.5</c:v>
                </c:pt>
                <c:pt idx="3">
                  <c:v>5.3</c:v>
                </c:pt>
                <c:pt idx="4">
                  <c:v>4.3</c:v>
                </c:pt>
                <c:pt idx="5">
                  <c:v>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020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20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image" Target="../media/image-13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B08D3D"/>
          </a:solidFill>
          <a:ln/>
        </p:spPr>
      </p:sp>
      <p:pic>
        <p:nvPicPr>
          <p:cNvPr id="4" name="Image 0" descr="/home/claude/logo_full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640080"/>
            <a:ext cx="1828800" cy="1993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4C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UHIS Mini Portal — Horus Byte Training Prototype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Abdelmoneim Kotb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A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&amp; Application Security — NTI Training Program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14500"/>
            <a:ext cx="731520" cy="7315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5" name="Image 0" descr="/home/claude/pptx_work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8900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3080" y="190195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Horus Byte is, and why UHIS as a scenario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2801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714500"/>
            <a:ext cx="731520" cy="7315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0" name="Image 1" descr="/home/claude/pptx_work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18900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06640" y="190195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WSTG black-box testing approach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680" y="3451860"/>
            <a:ext cx="731520" cy="7315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5" name="Image 2" descr="/home/claude/pptx_work/icon_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36274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36393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vulnerabilities, Critical to Low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301752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92240" y="3451860"/>
            <a:ext cx="731520" cy="7315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20" name="Image 3" descr="/home/claude/pptx_work/icon_usersecr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5" y="362742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06640" y="36393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 — how each was actually broken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75488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68680" y="5189220"/>
            <a:ext cx="731520" cy="7315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25" name="Image 4" descr="/home/claude/pptx_work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5" y="5364785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83080" y="4983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783080" y="53766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 and independently re-verified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72200" y="475488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92240" y="5189220"/>
            <a:ext cx="731520" cy="7315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30" name="Image 5" descr="/home/claude/pptx_work/icon_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805" y="5364785"/>
            <a:ext cx="380390" cy="38039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4983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7406640" y="53766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community value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Horus Byte?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self-built training prototype </a:t>
            </a:r>
            <a:pPr indent="0" marL="0">
              <a:buNone/>
            </a:pPr>
            <a:r>
              <a:rPr lang="en-US" sz="14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a portal for Egypt's Universal Health Insurance System (UHIS) — a real, ongoing national digitization effort.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98648"/>
            <a:ext cx="82296" cy="8229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614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scratch: Node.js / Express / MySQL, Dockerized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55848"/>
            <a:ext cx="82296" cy="8229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186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Citizen, doctor, and admin roles with real workflows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13048"/>
            <a:ext cx="82296" cy="8229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758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mirrors patterns seen in real government/health systems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70248"/>
            <a:ext cx="82296" cy="8229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330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 data — fully synthetic, safe to attack</a:t>
            </a:r>
            <a:endParaRPr lang="en-US" sz="1250" dirty="0"/>
          </a:p>
        </p:txBody>
      </p:sp>
      <p:pic>
        <p:nvPicPr>
          <p:cNvPr id="13" name="Image 0" descr="/home/claude/report_evidence/recon/02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17320"/>
            <a:ext cx="5257800" cy="33101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400800" y="1417320"/>
            <a:ext cx="5257800" cy="3310128"/>
          </a:xfrm>
          <a:prstGeom prst="rect">
            <a:avLst/>
          </a:prstGeom>
          <a:ln w="12700">
            <a:solidFill>
              <a:srgbClr val="E4DE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7731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Horus Byte dashboard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Health-Insurance Scenario?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0201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1463040" cy="1463040"/>
          </a:xfrm>
          <a:prstGeom prst="ellipse">
            <a:avLst/>
          </a:prstGeom>
          <a:solidFill>
            <a:srgbClr val="0F5C53"/>
          </a:solidFill>
          <a:ln/>
        </p:spPr>
      </p:sp>
      <p:pic>
        <p:nvPicPr>
          <p:cNvPr id="6" name="Image 0" descr="/home/claude/pptx_work/icon_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088490"/>
            <a:ext cx="760781" cy="7607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7830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is actively rolling out its </a:t>
            </a:r>
            <a:pPr indent="0" marL="0">
              <a:buNone/>
            </a:pPr>
            <a:r>
              <a:rPr lang="en-US" sz="1500" b="1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Health Insurance System</a:t>
            </a:r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nationwide — the second phase began in Minya in 2026.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291840"/>
            <a:ext cx="1463040" cy="146304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9" name="Image 1" descr="/home/claude/pptx_work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90" y="3642970"/>
            <a:ext cx="760781" cy="7607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33375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this kind of system digitizes millions of medical records, </a:t>
            </a:r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class of vulnerabilities tested here</a:t>
            </a:r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becomes a real national risk — not a hypothetical one.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4846320"/>
            <a:ext cx="1463040" cy="1463040"/>
          </a:xfrm>
          <a:prstGeom prst="ellipse">
            <a:avLst/>
          </a:prstGeom>
          <a:solidFill>
            <a:srgbClr val="B08D3D"/>
          </a:solidFill>
          <a:ln/>
        </p:spPr>
      </p:sp>
      <p:pic>
        <p:nvPicPr>
          <p:cNvPr id="12" name="Image 2" descr="/home/claude/pptx_work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5197450"/>
            <a:ext cx="760781" cy="7607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43200" y="48920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</a:t>
            </a:r>
            <a:pPr indent="0" marL="0">
              <a:buNone/>
            </a:pPr>
            <a:r>
              <a:rPr lang="en-US" sz="1500" b="1" dirty="0">
                <a:solidFill>
                  <a:srgbClr val="7D1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such flaws are found and fixed</a:t>
            </a:r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practical, reusable methodology for Egyptian digital-transformation teams.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WSTG — Black-Box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tester knows nothing, or as little as possible, about the application.” — tested the full methodology, not just the known bugs.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WSTG-INFO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243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endpoint via Burp proxy history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8745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011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WSTG-CONF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6243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for exposed files, allowed HTTP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011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WSTG-ATHN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83880" y="2286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26243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Error-message consistency, brute-force behavior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11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WSTG-SESS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Mgmt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224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flags, session invalidation on logout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611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WSTG-ATHZ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3886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4224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access vs. what's actually reachable by 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34747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3611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WSTG-INPV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83880" y="3886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83880" y="4224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+ harmless tag before any real payload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Vulnerabilities — Critical to Low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20040" cy="32004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5270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607040" y="1527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0" y="2148840"/>
            <a:ext cx="320040" cy="3200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0" y="2121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07040" y="21214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0" y="2743200"/>
            <a:ext cx="320040" cy="3200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07040" y="2715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0" y="3337560"/>
            <a:ext cx="320040" cy="3200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3310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607040" y="33101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0" y="42062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were found by following the full WSTG methodology — not just the three vulnerabilities planted by design.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11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A50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11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•  9.1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7" name="Image 0" descr="/home/claude/pptx_work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61483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4173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search endpoint concatenates user input directly into SQL. A single UNION SELECT payload pulls data from the users table instead of insurance_cases.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users table exfiltrated — national IDs, roles, and password hashes for every citizen, doctor, and admin.</a:t>
            </a:r>
            <a:endParaRPr lang="en-US" sz="1200" dirty="0"/>
          </a:p>
        </p:txBody>
      </p:sp>
      <p:pic>
        <p:nvPicPr>
          <p:cNvPr id="12" name="Image 1" descr="/home/claude/report_evidence/sqli/22_union_based_password_hash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417320"/>
            <a:ext cx="5303520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5943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 payload extracting bcrypt password hashes for every account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Cross-Site Scripting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11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11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•  8.2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7" name="Image 0" descr="/home/claude/pptx_work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61483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4173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notes field renders user input via unescaped innerHTML. An event-handler payload persists and executes for anyone who later opens the file.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script execution in another user's session — enabling session-cookie theft and account hijacking.</a:t>
            </a:r>
            <a:endParaRPr lang="en-US" sz="1200" dirty="0"/>
          </a:p>
        </p:txBody>
      </p:sp>
      <p:pic>
        <p:nvPicPr>
          <p:cNvPr id="12" name="Image 1" descr="/home/claude/report_evidence/xss/23_alert_popup_confirm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417320"/>
            <a:ext cx="5303520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5943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alert() firing automatically — confirmed exploitable Stored XSS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(IDOR)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11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11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•  7.5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7" name="Image 0" descr="/home/claude/pptx_work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61483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4173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file endpoint checks only that a session exists — never that the doctor is actually assigned to that file. Incrementing the ID is enough.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doctor can read any patient's medical file nationwide, regardless of governorate or assignment.</a:t>
            </a:r>
            <a:endParaRPr lang="en-US" sz="1200" dirty="0"/>
          </a:p>
        </p:txBody>
      </p:sp>
      <p:pic>
        <p:nvPicPr>
          <p:cNvPr id="12" name="Image 1" descr="/home/claude/report_evidence/idor/20_idor_file60_ismail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417320"/>
            <a:ext cx="5303520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5943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Cairo-based doctor account reading a patient file in Ismailia — zero relationship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KNOWN BUGS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Findings — Found by Following WSTG Fully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6" name="Image 0" descr="/home/claude/pptx_work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061058"/>
            <a:ext cx="404165" cy="404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51760" y="187452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D700"/>
          </a:solidFill>
          <a:ln/>
        </p:spPr>
      </p:sp>
      <p:sp>
        <p:nvSpPr>
          <p:cNvPr id="8" name="Text 5"/>
          <p:cNvSpPr/>
          <p:nvPr/>
        </p:nvSpPr>
        <p:spPr>
          <a:xfrm>
            <a:off x="2651760" y="18745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• 5.3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Rate Limiting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endpoint accepted unlimited password attempts — no lockout, delay, or CAPTCHA.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874520"/>
            <a:ext cx="777240" cy="77724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3" name="Image 1" descr="/home/claude/pptx_work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2061058"/>
            <a:ext cx="404165" cy="40416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46520" y="187452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D700"/>
          </a:solidFill>
          <a:ln/>
        </p:spPr>
      </p:sp>
      <p:sp>
        <p:nvSpPr>
          <p:cNvPr id="15" name="Text 11"/>
          <p:cNvSpPr/>
          <p:nvPr/>
        </p:nvSpPr>
        <p:spPr>
          <a:xfrm>
            <a:off x="6446520" y="18745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• 4.3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1772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SameSite Cookie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17720" y="333756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cookie had HttpOnly but no SameSite/Secure — weak CSRF resistance.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816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12480" y="1874520"/>
            <a:ext cx="777240" cy="77724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20" name="Image 2" descr="/home/claude/pptx_work/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2061058"/>
            <a:ext cx="404165" cy="40416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241280" y="187452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2DD4BF"/>
          </a:solidFill>
          <a:ln/>
        </p:spPr>
      </p:sp>
      <p:sp>
        <p:nvSpPr>
          <p:cNvPr id="22" name="Text 17"/>
          <p:cNvSpPr/>
          <p:nvPr/>
        </p:nvSpPr>
        <p:spPr>
          <a:xfrm>
            <a:off x="10241280" y="18745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• 2.4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41248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X-Powered-By Disclosure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12480" y="333756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leaked “Express”, aiding framework-specific attack research.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wouldn't exist in a report that only tested for the three vulnerabilities planted by design — the payoff of following WSTG end-to-end.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and Independently Re-Verified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1033272"/>
          </a:xfrm>
          <a:prstGeom prst="roundRect">
            <a:avLst>
              <a:gd name="adj" fmla="val 5310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1848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string concatenation    </a:t>
            </a:r>
            <a:pPr indent="0" marL="0">
              <a:buNone/>
            </a:pPr>
            <a:r>
              <a:rPr lang="en-US" sz="1150" b="1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After: </a:t>
            </a:r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6766560" cy="1033272"/>
          </a:xfrm>
          <a:prstGeom prst="roundRect">
            <a:avLst>
              <a:gd name="adj" fmla="val 5310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 check    </a:t>
            </a:r>
            <a:pPr indent="0" marL="0">
              <a:buNone/>
            </a:pPr>
            <a:r>
              <a:rPr lang="en-US" sz="1150" b="1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After: </a:t>
            </a:r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authorization check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6766560" cy="1033272"/>
          </a:xfrm>
          <a:prstGeom prst="roundRect">
            <a:avLst>
              <a:gd name="adj" fmla="val 5310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5935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0682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Unescaped innerHTML    </a:t>
            </a:r>
            <a:pPr indent="0" marL="0">
              <a:buNone/>
            </a:pPr>
            <a:r>
              <a:rPr lang="en-US" sz="1150" b="1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After: </a:t>
            </a:r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textContent-based rendering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6766560" cy="1033272"/>
          </a:xfrm>
          <a:prstGeom prst="roundRect">
            <a:avLst>
              <a:gd name="adj" fmla="val 5310"/>
            </a:avLst>
          </a:prstGeom>
          <a:solidFill>
            <a:srgbClr val="FAF8F3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129784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47725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attempts    </a:t>
            </a:r>
            <a:pPr indent="0" marL="0">
              <a:buNone/>
            </a:pPr>
            <a:r>
              <a:rPr lang="en-US" sz="1150" b="1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After: </a:t>
            </a:r>
            <a:pPr indent="0" marL="0">
              <a:buNone/>
            </a:pPr>
            <a:r>
              <a:rPr lang="en-US" sz="115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attempts / 15 min, HTTP 429</a:t>
            </a:r>
            <a:endParaRPr lang="en-US" sz="1150" dirty="0"/>
          </a:p>
        </p:txBody>
      </p:sp>
      <p:pic>
        <p:nvPicPr>
          <p:cNvPr id="16" name="Image 0" descr="/home/claude/report_evidence/after_idor/02_burp_history_login_ratelimit_sames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508760"/>
            <a:ext cx="406908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89520" y="59893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login response: RateLimit headers + SameSite=Lax cookie, both fixed at once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C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Proven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B08D3D"/>
          </a:solidFill>
          <a:ln/>
        </p:spPr>
      </p:sp>
      <p:pic>
        <p:nvPicPr>
          <p:cNvPr id="5" name="Image 0" descr="/home/claude/pptx_work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099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material extracted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6480" y="1737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C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for the admin account (id=1) recovered via UNION-based SQLi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777240" cy="777240"/>
          </a:xfrm>
          <a:prstGeom prst="ellipse">
            <a:avLst/>
          </a:prstGeom>
          <a:solidFill>
            <a:srgbClr val="B08D3D"/>
          </a:solidFill>
          <a:ln/>
        </p:spPr>
      </p:sp>
      <p:pic>
        <p:nvPicPr>
          <p:cNvPr id="9" name="Image 1" descr="/home/claude/pptx_work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292973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76148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database exposure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126480" y="2788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C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78 insurance case records returned from a single boolean-based request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777240" cy="777240"/>
          </a:xfrm>
          <a:prstGeom prst="ellipse">
            <a:avLst/>
          </a:prstGeom>
          <a:solidFill>
            <a:srgbClr val="B08D3D"/>
          </a:solidFill>
          <a:ln/>
        </p:spPr>
      </p:sp>
      <p:pic>
        <p:nvPicPr>
          <p:cNvPr id="13" name="Image 2" descr="/home/claude/pptx_work/icon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98129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81304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medical access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126480" y="3840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C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Cross-governorate patient file (Ismailia) read by an unrelated Cairo doctor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777240" cy="777240"/>
          </a:xfrm>
          <a:prstGeom prst="ellipse">
            <a:avLst/>
          </a:prstGeom>
          <a:solidFill>
            <a:srgbClr val="B08D3D"/>
          </a:solidFill>
          <a:ln/>
        </p:spPr>
      </p:sp>
      <p:pic>
        <p:nvPicPr>
          <p:cNvPr id="17" name="Image 3" descr="/home/claude/pptx_work/icon_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503285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86460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code execution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126480" y="48920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C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alert() fired automatically via a stored XSS payload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Implemented — Here's the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F5C53"/>
          </a:solidFill>
          <a:ln/>
        </p:spPr>
      </p:sp>
      <p:pic>
        <p:nvPicPr>
          <p:cNvPr id="5" name="Image 0" descr="/home/claude/pptx_work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361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everywhere — no string-built SQL.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76272"/>
            <a:ext cx="457200" cy="457200"/>
          </a:xfrm>
          <a:prstGeom prst="ellipse">
            <a:avLst/>
          </a:prstGeom>
          <a:solidFill>
            <a:srgbClr val="0F5C53"/>
          </a:solidFill>
          <a:ln/>
        </p:spPr>
      </p:sp>
      <p:pic>
        <p:nvPicPr>
          <p:cNvPr id="8" name="Image 1" descr="/home/claude/pptx_work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860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15798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user content with textContent, never raw innerHTML.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98064"/>
            <a:ext cx="457200" cy="457200"/>
          </a:xfrm>
          <a:prstGeom prst="ellipse">
            <a:avLst/>
          </a:prstGeom>
          <a:solidFill>
            <a:srgbClr val="0F5C53"/>
          </a:solidFill>
          <a:ln/>
        </p:spPr>
      </p:sp>
      <p:pic>
        <p:nvPicPr>
          <p:cNvPr id="11" name="Image 2" descr="/home/claude/pptx_work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0779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7797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object-level authorization on every ID-based endpoint.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0F5C53"/>
          </a:solidFill>
          <a:ln/>
        </p:spPr>
      </p:sp>
      <p:pic>
        <p:nvPicPr>
          <p:cNvPr id="14" name="Image 3" descr="/home/claude/pptx_work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2958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40156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authentication endpoints (5 / 15 min).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041648"/>
            <a:ext cx="457200" cy="457200"/>
          </a:xfrm>
          <a:prstGeom prst="ellipse">
            <a:avLst/>
          </a:prstGeom>
          <a:solidFill>
            <a:srgbClr val="0F5C53"/>
          </a:solidFill>
          <a:ln/>
        </p:spPr>
      </p:sp>
      <p:pic>
        <p:nvPicPr>
          <p:cNvPr id="17" name="Image 4" descr="/home/claude/pptx_work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151376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023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+ Secure flags on all session cookies.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0F5C53"/>
          </a:solidFill>
          <a:ln/>
        </p:spPr>
      </p:sp>
      <p:pic>
        <p:nvPicPr>
          <p:cNvPr id="20" name="Image 5" descr="/home/claude/pptx_work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46451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framework fingerprinting headers (X-Powered-By).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rgbClr val="B08D3D"/>
          </a:solidFill>
          <a:ln/>
        </p:spPr>
      </p:sp>
      <p:pic>
        <p:nvPicPr>
          <p:cNvPr id="23" name="Image 6" descr="/home/claude/pptx_work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394960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4440" y="526694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WSTG-based testing into routine release review — not just a one-off audit.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Training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371600" cy="137160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5" name="Image 0" descr="/home/claude/pptx_work/icon_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173736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a real national system — </a:t>
            </a:r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UHIS is being rolled out across Egypt right now, not a hypothetical target.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1371600" cy="1371600"/>
          </a:xfrm>
          <a:prstGeom prst="ellipse">
            <a:avLst/>
          </a:prstGeom>
          <a:solidFill>
            <a:srgbClr val="0F5C53"/>
          </a:solidFill>
          <a:ln/>
        </p:spPr>
      </p:sp>
      <p:pic>
        <p:nvPicPr>
          <p:cNvPr id="8" name="Image 1" descr="/home/claude/pptx_work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392424"/>
            <a:ext cx="713232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310896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self-contained methodology — </a:t>
            </a:r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WSTG applied end-to-end, documented, and reproducible by any student.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4434840"/>
            <a:ext cx="1371600" cy="1371600"/>
          </a:xfrm>
          <a:prstGeom prst="ellipse">
            <a:avLst/>
          </a:prstGeom>
          <a:solidFill>
            <a:srgbClr val="B08D3D"/>
          </a:solidFill>
          <a:ln/>
        </p:spPr>
      </p:sp>
      <p:pic>
        <p:nvPicPr>
          <p:cNvPr id="11" name="Image 2" descr="/home/claude/pptx_work/icon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64024"/>
            <a:ext cx="713232" cy="7132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86000" y="448056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independently re-verified — </a:t>
            </a:r>
            <a:pPr indent="0" marL="0">
              <a:buNone/>
            </a:pPr>
            <a:r>
              <a:rPr lang="en-US" sz="1500" dirty="0">
                <a:solidFill>
                  <a:srgbClr val="20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“patched,” but proven closed using the exact same exploitation steps.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Horus Byte — UHIS Mini Portal  |  Penetration Testing &amp; Application Security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B08D3D"/>
          </a:solidFill>
          <a:ln/>
        </p:spPr>
      </p:sp>
      <p:pic>
        <p:nvPicPr>
          <p:cNvPr id="4" name="Image 0" descr="/home/claude/logo_full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005840"/>
            <a:ext cx="1371600" cy="1490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4C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A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Abdelmoneim Kotb  •  Horus Byte  •  UHIS Mini Portal Penetration Test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2026-08-26T08:53:53Z</dcterms:created>
  <dcterms:modified xsi:type="dcterms:W3CDTF">2026-08-26T08:53:53Z</dcterms:modified>
</cp:coreProperties>
</file>